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xsuite/xsuite/issues" TargetMode="External"/><Relationship Id="rId3" Type="http://schemas.openxmlformats.org/officeDocument/2006/relationships/hyperlink" Target="https://xsuite.web.cern.ch" TargetMode="External"/><Relationship Id="rId7" Type="http://schemas.openxmlformats.org/officeDocument/2006/relationships/hyperlink" Target="https://mattermost.web.cern.ch/xsuit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xsuite.github.io/xsuite/docs/physics_manual/physics_man.pdf" TargetMode="External"/><Relationship Id="rId5" Type="http://schemas.openxmlformats.org/officeDocument/2006/relationships/hyperlink" Target="https://xsuite.readthedocs.io/en/latest/apireference.html" TargetMode="External"/><Relationship Id="rId4" Type="http://schemas.openxmlformats.org/officeDocument/2006/relationships/hyperlink" Target="https://xsuite.readthedocs.i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suite/tutorial_cern_semina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0532"/>
            <a:ext cx="1239250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200" b="1" dirty="0">
                <a:solidFill>
                  <a:srgbClr val="FFFFFF"/>
                </a:solidFill>
              </a:rPr>
              <a:t>Xsuite</a:t>
            </a:r>
          </a:p>
        </p:txBody>
      </p:sp>
      <p:pic>
        <p:nvPicPr>
          <p:cNvPr id="4" name="Picture 3" descr="xsui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109728"/>
            <a:ext cx="1171533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80160"/>
            <a:ext cx="6309360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>
                <a:solidFill>
                  <a:srgbClr val="2A7DE1"/>
                </a:solidFill>
              </a:rPr>
              <a:t>• </a:t>
            </a:r>
            <a:r>
              <a:rPr sz="1800" b="1" dirty="0">
                <a:solidFill>
                  <a:srgbClr val="202020"/>
                </a:solidFill>
              </a:rPr>
              <a:t>A suite of Python packages </a:t>
            </a:r>
            <a:r>
              <a:rPr sz="1800" b="0" dirty="0">
                <a:solidFill>
                  <a:srgbClr val="202020"/>
                </a:solidFill>
              </a:rPr>
              <a:t>for the simulation of beam dynamics in particle accelerators, developed at CERN</a:t>
            </a:r>
          </a:p>
          <a:p>
            <a:pPr lvl="1">
              <a:spcAft>
                <a:spcPts val="800"/>
              </a:spcAft>
            </a:pPr>
            <a:r>
              <a:rPr sz="1600" dirty="0">
                <a:solidFill>
                  <a:srgbClr val="555555"/>
                </a:solidFill>
              </a:rPr>
              <a:t>    – </a:t>
            </a:r>
            <a:r>
              <a:rPr sz="1600" b="0" dirty="0">
                <a:solidFill>
                  <a:srgbClr val="202020"/>
                </a:solidFill>
              </a:rPr>
              <a:t>Open source, on GitHub, installable with pip</a:t>
            </a:r>
          </a:p>
          <a:p>
            <a:pPr lvl="1">
              <a:spcAft>
                <a:spcPts val="800"/>
              </a:spcAft>
            </a:pPr>
            <a:r>
              <a:rPr sz="1600" dirty="0">
                <a:solidFill>
                  <a:srgbClr val="555555"/>
                </a:solidFill>
              </a:rPr>
              <a:t>    – </a:t>
            </a:r>
            <a:r>
              <a:rPr sz="1600" b="0" dirty="0">
                <a:solidFill>
                  <a:srgbClr val="202020"/>
                </a:solidFill>
              </a:rPr>
              <a:t>Runs on CPUs and GPUs (same user code)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A7DE1"/>
                </a:solidFill>
              </a:rPr>
              <a:t>• </a:t>
            </a:r>
            <a:r>
              <a:rPr sz="1800" b="1" dirty="0">
                <a:solidFill>
                  <a:srgbClr val="202020"/>
                </a:solidFill>
              </a:rPr>
              <a:t>Single-particle tracking</a:t>
            </a:r>
            <a:r>
              <a:rPr sz="1800" b="0" dirty="0">
                <a:solidFill>
                  <a:srgbClr val="202020"/>
                </a:solidFill>
              </a:rPr>
              <a:t> </a:t>
            </a:r>
            <a:r>
              <a:rPr sz="1800" b="1" dirty="0">
                <a:solidFill>
                  <a:srgbClr val="202020"/>
                </a:solidFill>
              </a:rPr>
              <a:t>and optics</a:t>
            </a:r>
            <a:r>
              <a:rPr sz="1800" b="0" dirty="0">
                <a:solidFill>
                  <a:srgbClr val="202020"/>
                </a:solidFill>
              </a:rPr>
              <a:t>: </a:t>
            </a:r>
            <a:r>
              <a:rPr sz="1800" b="0" dirty="0" err="1">
                <a:solidFill>
                  <a:srgbClr val="202020"/>
                </a:solidFill>
              </a:rPr>
              <a:t>twiss</a:t>
            </a:r>
            <a:r>
              <a:rPr sz="1800" b="0" dirty="0">
                <a:solidFill>
                  <a:srgbClr val="202020"/>
                </a:solidFill>
              </a:rPr>
              <a:t>, matching, survey, trackin</a:t>
            </a:r>
            <a:r>
              <a:rPr lang="en-US" sz="1800" b="0" dirty="0">
                <a:solidFill>
                  <a:srgbClr val="202020"/>
                </a:solidFill>
              </a:rPr>
              <a:t>g</a:t>
            </a:r>
            <a:endParaRPr sz="1800" b="0" dirty="0">
              <a:solidFill>
                <a:srgbClr val="202020"/>
              </a:solidFill>
            </a:endParaRP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A7DE1"/>
                </a:solidFill>
              </a:rPr>
              <a:t>• </a:t>
            </a:r>
            <a:r>
              <a:rPr sz="1800" b="1" dirty="0">
                <a:solidFill>
                  <a:srgbClr val="202020"/>
                </a:solidFill>
              </a:rPr>
              <a:t>Lattice description</a:t>
            </a:r>
            <a:r>
              <a:rPr lang="en-US" sz="1800" b="1" dirty="0">
                <a:solidFill>
                  <a:srgbClr val="202020"/>
                </a:solidFill>
              </a:rPr>
              <a:t>, </a:t>
            </a:r>
            <a:r>
              <a:rPr lang="en-US" sz="1800" dirty="0">
                <a:solidFill>
                  <a:srgbClr val="202020"/>
                </a:solidFill>
              </a:rPr>
              <a:t>symplectic maps,</a:t>
            </a:r>
            <a:r>
              <a:rPr sz="1800" b="0" dirty="0">
                <a:solidFill>
                  <a:srgbClr val="202020"/>
                </a:solidFill>
              </a:rPr>
              <a:t> deferred expressions </a:t>
            </a:r>
            <a:r>
              <a:rPr lang="en-US" sz="1800" b="0" dirty="0">
                <a:solidFill>
                  <a:srgbClr val="202020"/>
                </a:solidFill>
              </a:rPr>
              <a:t>for knobs, machine imperfections</a:t>
            </a:r>
            <a:endParaRPr sz="1800" b="0" dirty="0">
              <a:solidFill>
                <a:srgbClr val="202020"/>
              </a:solidFill>
            </a:endParaRP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A7DE1"/>
                </a:solidFill>
              </a:rPr>
              <a:t>• </a:t>
            </a:r>
            <a:r>
              <a:rPr sz="1800" b="1" dirty="0">
                <a:solidFill>
                  <a:srgbClr val="202020"/>
                </a:solidFill>
              </a:rPr>
              <a:t>Collective effects</a:t>
            </a:r>
            <a:r>
              <a:rPr sz="1800" b="0" dirty="0">
                <a:solidFill>
                  <a:srgbClr val="202020"/>
                </a:solidFill>
              </a:rPr>
              <a:t>: space charge, beam-beam, </a:t>
            </a:r>
            <a:r>
              <a:rPr sz="1800" b="0" dirty="0" err="1">
                <a:solidFill>
                  <a:srgbClr val="202020"/>
                </a:solidFill>
              </a:rPr>
              <a:t>wakefields</a:t>
            </a:r>
            <a:r>
              <a:rPr sz="1800" b="0" dirty="0">
                <a:solidFill>
                  <a:srgbClr val="202020"/>
                </a:solidFill>
              </a:rPr>
              <a:t>, </a:t>
            </a:r>
            <a:r>
              <a:rPr lang="en-GB" sz="1800" b="0" dirty="0">
                <a:solidFill>
                  <a:srgbClr val="202020"/>
                </a:solidFill>
              </a:rPr>
              <a:t>electron cloud</a:t>
            </a:r>
          </a:p>
          <a:p>
            <a:pPr>
              <a:spcAft>
                <a:spcPts val="800"/>
              </a:spcAft>
            </a:pPr>
            <a:r>
              <a:rPr lang="en-GB" sz="1800" dirty="0">
                <a:solidFill>
                  <a:srgbClr val="2A7DE1"/>
                </a:solidFill>
              </a:rPr>
              <a:t>• </a:t>
            </a:r>
            <a:r>
              <a:rPr lang="en-GB" sz="1800" b="1" dirty="0">
                <a:solidFill>
                  <a:srgbClr val="202020"/>
                </a:solidFill>
              </a:rPr>
              <a:t>Particle-matter interaction</a:t>
            </a:r>
            <a:r>
              <a:rPr lang="en-GB" sz="1800" b="0" dirty="0">
                <a:solidFill>
                  <a:srgbClr val="202020"/>
                </a:solidFill>
              </a:rPr>
              <a:t>: collimation via </a:t>
            </a:r>
            <a:r>
              <a:rPr lang="en-GB" sz="1800" b="0" dirty="0" err="1">
                <a:solidFill>
                  <a:srgbClr val="202020"/>
                </a:solidFill>
              </a:rPr>
              <a:t>Xcoll</a:t>
            </a:r>
            <a:r>
              <a:rPr lang="en-GB" sz="1800" b="0" dirty="0">
                <a:solidFill>
                  <a:srgbClr val="202020"/>
                </a:solidFill>
              </a:rPr>
              <a:t> (native, FLUKA, Geant4)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A7DE1"/>
                </a:solidFill>
              </a:rPr>
              <a:t>• </a:t>
            </a:r>
            <a:r>
              <a:rPr sz="1800" b="0" dirty="0">
                <a:solidFill>
                  <a:srgbClr val="202020"/>
                </a:solidFill>
              </a:rPr>
              <a:t>Used for LHC, HL-LHC, injectors, FCC-ee, light sources, medical synchrotrons,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Xsuite tutorial</a:t>
            </a: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C09EF92E-ECF6-F11D-FC72-0958620EE65B}"/>
              </a:ext>
            </a:extLst>
          </p:cNvPr>
          <p:cNvSpPr/>
          <p:nvPr/>
        </p:nvSpPr>
        <p:spPr>
          <a:xfrm flipH="1">
            <a:off x="6826187" y="1445627"/>
            <a:ext cx="5199191" cy="2806690"/>
          </a:xfrm>
          <a:prstGeom prst="rect">
            <a:avLst/>
          </a:prstGeom>
          <a:solidFill>
            <a:srgbClr val="E2F0D9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 lang="en-GB" noProof="0" dirty="0"/>
          </a:p>
        </p:txBody>
      </p:sp>
      <p:grpSp>
        <p:nvGrpSpPr>
          <p:cNvPr id="11" name="Rectangle 16">
            <a:extLst>
              <a:ext uri="{FF2B5EF4-FFF2-40B4-BE49-F238E27FC236}">
                <a16:creationId xmlns:a16="http://schemas.microsoft.com/office/drawing/2014/main" id="{39A08320-2BA2-01DF-AECB-737325CB69C9}"/>
              </a:ext>
            </a:extLst>
          </p:cNvPr>
          <p:cNvGrpSpPr/>
          <p:nvPr/>
        </p:nvGrpSpPr>
        <p:grpSpPr>
          <a:xfrm>
            <a:off x="6826186" y="4315593"/>
            <a:ext cx="5199191" cy="822657"/>
            <a:chOff x="0" y="0"/>
            <a:chExt cx="5199190" cy="822656"/>
          </a:xfrm>
        </p:grpSpPr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38E189FD-182A-AE63-E2E5-4A4F526766F5}"/>
                </a:ext>
              </a:extLst>
            </p:cNvPr>
            <p:cNvSpPr/>
            <p:nvPr/>
          </p:nvSpPr>
          <p:spPr>
            <a:xfrm>
              <a:off x="-1" y="-1"/>
              <a:ext cx="5199191" cy="822658"/>
            </a:xfrm>
            <a:prstGeom prst="rect">
              <a:avLst/>
            </a:prstGeom>
            <a:solidFill>
              <a:srgbClr val="FBE5D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 lang="en-GB" noProof="0" dirty="0"/>
            </a:p>
          </p:txBody>
        </p:sp>
        <p:sp>
          <p:nvSpPr>
            <p:cNvPr id="13" name="Xobjects…">
              <a:extLst>
                <a:ext uri="{FF2B5EF4-FFF2-40B4-BE49-F238E27FC236}">
                  <a16:creationId xmlns:a16="http://schemas.microsoft.com/office/drawing/2014/main" id="{5D8DE8F7-1B19-847B-A29F-330A54A5624D}"/>
                </a:ext>
              </a:extLst>
            </p:cNvPr>
            <p:cNvSpPr txBox="1"/>
            <p:nvPr/>
          </p:nvSpPr>
          <p:spPr>
            <a:xfrm>
              <a:off x="41790" y="24362"/>
              <a:ext cx="5115609" cy="773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400" b="1">
                  <a:solidFill>
                    <a:srgbClr val="843C0B"/>
                  </a:solidFill>
                </a:defRPr>
              </a:pPr>
              <a:r>
                <a:rPr lang="en-GB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Xobjects</a:t>
              </a:r>
              <a:endParaRPr lang="en-GB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457200">
                <a:defRPr sz="1400">
                  <a:solidFill>
                    <a:srgbClr val="843C0B"/>
                  </a:solidFill>
                </a:defRPr>
              </a:pPr>
              <a:r>
                <a:rPr lang="en-GB" noProof="0" dirty="0">
                  <a:latin typeface="Arial" panose="020B0604020202020204" pitchFamily="34" charset="0"/>
                  <a:cs typeface="Arial" panose="020B0604020202020204" pitchFamily="34" charset="0"/>
                </a:rPr>
                <a:t>Interface to different computing platforms </a:t>
              </a:r>
              <a:endParaRPr lang="en-GB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457200">
                <a:defRPr sz="1400">
                  <a:solidFill>
                    <a:srgbClr val="843C0B"/>
                  </a:solidFill>
                </a:defRPr>
              </a:pPr>
              <a:r>
                <a:rPr lang="en-GB" noProof="0" dirty="0">
                  <a:latin typeface="Arial" panose="020B0604020202020204" pitchFamily="34" charset="0"/>
                  <a:cs typeface="Arial" panose="020B0604020202020204" pitchFamily="34" charset="0"/>
                </a:rPr>
                <a:t>(CPUs and GPUs of different vendors)</a:t>
              </a:r>
            </a:p>
          </p:txBody>
        </p:sp>
      </p:grpSp>
      <p:grpSp>
        <p:nvGrpSpPr>
          <p:cNvPr id="14" name="Rectangle 17">
            <a:extLst>
              <a:ext uri="{FF2B5EF4-FFF2-40B4-BE49-F238E27FC236}">
                <a16:creationId xmlns:a16="http://schemas.microsoft.com/office/drawing/2014/main" id="{AF30AF11-8A6D-2A1D-87AB-283410F55E78}"/>
              </a:ext>
            </a:extLst>
          </p:cNvPr>
          <p:cNvGrpSpPr/>
          <p:nvPr/>
        </p:nvGrpSpPr>
        <p:grpSpPr>
          <a:xfrm>
            <a:off x="7381143" y="2436685"/>
            <a:ext cx="2148319" cy="822660"/>
            <a:chOff x="-9410" y="-1"/>
            <a:chExt cx="2148318" cy="822658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15D4012E-DC14-B1C6-27FB-0D6B98636B3B}"/>
                </a:ext>
              </a:extLst>
            </p:cNvPr>
            <p:cNvSpPr/>
            <p:nvPr/>
          </p:nvSpPr>
          <p:spPr>
            <a:xfrm>
              <a:off x="0" y="-1"/>
              <a:ext cx="2138908" cy="822658"/>
            </a:xfrm>
            <a:prstGeom prst="rect">
              <a:avLst/>
            </a:prstGeom>
            <a:solidFill>
              <a:srgbClr val="C5E0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 lang="en-GB" noProof="0" dirty="0"/>
            </a:p>
          </p:txBody>
        </p:sp>
        <p:sp>
          <p:nvSpPr>
            <p:cNvPr id="16" name="Xfields…">
              <a:extLst>
                <a:ext uri="{FF2B5EF4-FFF2-40B4-BE49-F238E27FC236}">
                  <a16:creationId xmlns:a16="http://schemas.microsoft.com/office/drawing/2014/main" id="{6F569F41-6F92-6265-2966-8AE25ED446D3}"/>
                </a:ext>
              </a:extLst>
            </p:cNvPr>
            <p:cNvSpPr txBox="1"/>
            <p:nvPr/>
          </p:nvSpPr>
          <p:spPr>
            <a:xfrm>
              <a:off x="-9410" y="24362"/>
              <a:ext cx="2143154" cy="773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400" b="1">
                  <a:solidFill>
                    <a:srgbClr val="385724"/>
                  </a:solidFill>
                </a:defRPr>
              </a:pPr>
              <a:r>
                <a:rPr lang="en-GB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Xfields</a:t>
              </a:r>
              <a:endParaRPr lang="en-GB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457200">
                <a:defRPr sz="1400">
                  <a:solidFill>
                    <a:srgbClr val="385724"/>
                  </a:solidFill>
                </a:defRPr>
              </a:pPr>
              <a:r>
                <a:rPr lang="en-GB" noProof="0" dirty="0">
                  <a:latin typeface="Arial" panose="020B0604020202020204" pitchFamily="34" charset="0"/>
                  <a:cs typeface="Arial" panose="020B0604020202020204" pitchFamily="34" charset="0"/>
                </a:rPr>
                <a:t>Computation of EM fields from particle ensembles</a:t>
              </a:r>
            </a:p>
          </p:txBody>
        </p:sp>
      </p:grpSp>
      <p:grpSp>
        <p:nvGrpSpPr>
          <p:cNvPr id="17" name="Rectangle 19">
            <a:extLst>
              <a:ext uri="{FF2B5EF4-FFF2-40B4-BE49-F238E27FC236}">
                <a16:creationId xmlns:a16="http://schemas.microsoft.com/office/drawing/2014/main" id="{B20F73B2-9815-234E-BD64-1247073631CF}"/>
              </a:ext>
            </a:extLst>
          </p:cNvPr>
          <p:cNvGrpSpPr/>
          <p:nvPr/>
        </p:nvGrpSpPr>
        <p:grpSpPr>
          <a:xfrm>
            <a:off x="7390553" y="1532865"/>
            <a:ext cx="2138908" cy="822658"/>
            <a:chOff x="0" y="0"/>
            <a:chExt cx="2138907" cy="822656"/>
          </a:xfrm>
        </p:grpSpPr>
        <p:sp>
          <p:nvSpPr>
            <p:cNvPr id="18" name="Rectangle">
              <a:extLst>
                <a:ext uri="{FF2B5EF4-FFF2-40B4-BE49-F238E27FC236}">
                  <a16:creationId xmlns:a16="http://schemas.microsoft.com/office/drawing/2014/main" id="{66CFF34D-3006-B675-5336-C253754022BA}"/>
                </a:ext>
              </a:extLst>
            </p:cNvPr>
            <p:cNvSpPr/>
            <p:nvPr/>
          </p:nvSpPr>
          <p:spPr>
            <a:xfrm>
              <a:off x="0" y="-1"/>
              <a:ext cx="2138908" cy="822658"/>
            </a:xfrm>
            <a:prstGeom prst="rect">
              <a:avLst/>
            </a:prstGeom>
            <a:solidFill>
              <a:srgbClr val="C5E0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 lang="en-GB" noProof="0" dirty="0"/>
            </a:p>
          </p:txBody>
        </p:sp>
        <p:sp>
          <p:nvSpPr>
            <p:cNvPr id="19" name="Xtrack…">
              <a:extLst>
                <a:ext uri="{FF2B5EF4-FFF2-40B4-BE49-F238E27FC236}">
                  <a16:creationId xmlns:a16="http://schemas.microsoft.com/office/drawing/2014/main" id="{14FB0EA8-B6CA-9A63-5F90-E5D053F63F28}"/>
                </a:ext>
              </a:extLst>
            </p:cNvPr>
            <p:cNvSpPr txBox="1"/>
            <p:nvPr/>
          </p:nvSpPr>
          <p:spPr>
            <a:xfrm>
              <a:off x="41790" y="24362"/>
              <a:ext cx="2055327" cy="773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400" b="1">
                  <a:solidFill>
                    <a:srgbClr val="385724"/>
                  </a:solidFill>
                </a:defRPr>
              </a:pPr>
              <a:r>
                <a:rPr lang="en-GB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Xtrack</a:t>
              </a:r>
              <a:endParaRPr lang="en-GB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457200">
                <a:defRPr sz="1400">
                  <a:solidFill>
                    <a:srgbClr val="385724"/>
                  </a:solidFill>
                </a:defRPr>
              </a:pPr>
              <a:r>
                <a:rPr lang="en-GB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GB" noProof="0" dirty="0">
                  <a:latin typeface="Arial" panose="020B0604020202020204" pitchFamily="34" charset="0"/>
                  <a:cs typeface="Arial" panose="020B0604020202020204" pitchFamily="34" charset="0"/>
                </a:rPr>
                <a:t>racking and optics engine</a:t>
              </a:r>
            </a:p>
          </p:txBody>
        </p:sp>
      </p:grpSp>
      <p:grpSp>
        <p:nvGrpSpPr>
          <p:cNvPr id="20" name="Rectangle 21">
            <a:extLst>
              <a:ext uri="{FF2B5EF4-FFF2-40B4-BE49-F238E27FC236}">
                <a16:creationId xmlns:a16="http://schemas.microsoft.com/office/drawing/2014/main" id="{5209390F-A12B-C164-4742-05347DDA45C9}"/>
              </a:ext>
            </a:extLst>
          </p:cNvPr>
          <p:cNvGrpSpPr/>
          <p:nvPr/>
        </p:nvGrpSpPr>
        <p:grpSpPr>
          <a:xfrm>
            <a:off x="9683152" y="1532865"/>
            <a:ext cx="2138909" cy="822658"/>
            <a:chOff x="0" y="0"/>
            <a:chExt cx="2138907" cy="822656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50A376B2-D1AD-EF48-0E53-05E083E40EC6}"/>
                </a:ext>
              </a:extLst>
            </p:cNvPr>
            <p:cNvSpPr/>
            <p:nvPr/>
          </p:nvSpPr>
          <p:spPr>
            <a:xfrm>
              <a:off x="0" y="-1"/>
              <a:ext cx="2138908" cy="822658"/>
            </a:xfrm>
            <a:prstGeom prst="rect">
              <a:avLst/>
            </a:prstGeom>
            <a:solidFill>
              <a:srgbClr val="C5E0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600" b="1">
                  <a:solidFill>
                    <a:srgbClr val="385724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 lang="en-GB" noProof="0" dirty="0"/>
            </a:p>
          </p:txBody>
        </p:sp>
        <p:sp>
          <p:nvSpPr>
            <p:cNvPr id="22" name="Xpart…">
              <a:extLst>
                <a:ext uri="{FF2B5EF4-FFF2-40B4-BE49-F238E27FC236}">
                  <a16:creationId xmlns:a16="http://schemas.microsoft.com/office/drawing/2014/main" id="{6B06B040-8980-886A-7369-3A74B5CE89C9}"/>
                </a:ext>
              </a:extLst>
            </p:cNvPr>
            <p:cNvSpPr txBox="1"/>
            <p:nvPr/>
          </p:nvSpPr>
          <p:spPr>
            <a:xfrm>
              <a:off x="41790" y="24362"/>
              <a:ext cx="2055327" cy="773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400" b="1">
                  <a:solidFill>
                    <a:srgbClr val="385724"/>
                  </a:solidFill>
                </a:defRPr>
              </a:pPr>
              <a:r>
                <a:rPr lang="en-GB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Xpart</a:t>
              </a:r>
              <a:endParaRPr lang="en-GB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457200">
                <a:defRPr sz="1400">
                  <a:solidFill>
                    <a:srgbClr val="385724"/>
                  </a:solidFill>
                </a:defRPr>
              </a:pPr>
              <a:r>
                <a:rPr lang="en-GB" noProof="0" dirty="0">
                  <a:latin typeface="Arial" panose="020B0604020202020204" pitchFamily="34" charset="0"/>
                  <a:cs typeface="Arial" panose="020B0604020202020204" pitchFamily="34" charset="0"/>
                </a:rPr>
                <a:t>Generation of particles distributions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5922889-724B-DE7C-6841-8C75870741E7}"/>
              </a:ext>
            </a:extLst>
          </p:cNvPr>
          <p:cNvSpPr txBox="1"/>
          <p:nvPr/>
        </p:nvSpPr>
        <p:spPr>
          <a:xfrm rot="16200000">
            <a:off x="5727109" y="2670906"/>
            <a:ext cx="2696222" cy="304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 algn="ctr" defTabSz="457200">
              <a:defRPr sz="1400" b="1">
                <a:solidFill>
                  <a:srgbClr val="385724"/>
                </a:solidFill>
              </a:defRPr>
            </a:lvl1pPr>
          </a:lstStyle>
          <a:p>
            <a:r>
              <a:rPr lang="en-GB" b="0" noProof="0" dirty="0">
                <a:latin typeface="Arial" panose="020B0604020202020204" pitchFamily="34" charset="0"/>
                <a:cs typeface="Arial" panose="020B0604020202020204" pitchFamily="34" charset="0"/>
              </a:rPr>
              <a:t>Physics modules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F766FC74-3FE6-CBC1-F6D1-23DEF010B056}"/>
              </a:ext>
            </a:extLst>
          </p:cNvPr>
          <p:cNvSpPr/>
          <p:nvPr/>
        </p:nvSpPr>
        <p:spPr>
          <a:xfrm>
            <a:off x="6826748" y="5961776"/>
            <a:ext cx="5199192" cy="627943"/>
          </a:xfrm>
          <a:prstGeom prst="rect">
            <a:avLst/>
          </a:prstGeom>
          <a:solidFill>
            <a:srgbClr val="E2DFD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200">
              <a:defRPr sz="1600">
                <a:solidFill>
                  <a:srgbClr val="843C0B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 lang="en-GB" noProof="0" dirty="0"/>
          </a:p>
        </p:txBody>
      </p:sp>
      <p:pic>
        <p:nvPicPr>
          <p:cNvPr id="25" name="Picture 2" descr="Picture 2">
            <a:extLst>
              <a:ext uri="{FF2B5EF4-FFF2-40B4-BE49-F238E27FC236}">
                <a16:creationId xmlns:a16="http://schemas.microsoft.com/office/drawing/2014/main" id="{7CE91669-9EA9-6018-070F-CE564BE85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566" y="6168452"/>
            <a:ext cx="1228897" cy="227347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26" name="Picture 4" descr="Picture 4">
            <a:extLst>
              <a:ext uri="{FF2B5EF4-FFF2-40B4-BE49-F238E27FC236}">
                <a16:creationId xmlns:a16="http://schemas.microsoft.com/office/drawing/2014/main" id="{D9C75C64-6436-EF20-0A84-D3D62968D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1660" y="6180048"/>
            <a:ext cx="847427" cy="2041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27" name="Picture 6" descr="Picture 6">
            <a:extLst>
              <a:ext uri="{FF2B5EF4-FFF2-40B4-BE49-F238E27FC236}">
                <a16:creationId xmlns:a16="http://schemas.microsoft.com/office/drawing/2014/main" id="{BD13C118-540A-93FC-013F-9CFD5D8A3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4234" y="6146182"/>
            <a:ext cx="589760" cy="249309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6F52EBC-4520-E12F-53B1-FD20A3BBB959}"/>
              </a:ext>
            </a:extLst>
          </p:cNvPr>
          <p:cNvSpPr/>
          <p:nvPr/>
        </p:nvSpPr>
        <p:spPr>
          <a:xfrm>
            <a:off x="6826749" y="5194394"/>
            <a:ext cx="5199191" cy="707315"/>
          </a:xfrm>
          <a:prstGeom prst="rect">
            <a:avLst/>
          </a:prstGeom>
          <a:solidFill>
            <a:srgbClr val="0070C0">
              <a:alpha val="38039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1600">
                <a:solidFill>
                  <a:srgbClr val="843C0B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 lang="en-GB" noProof="0" dirty="0"/>
          </a:p>
        </p:txBody>
      </p:sp>
      <p:pic>
        <p:nvPicPr>
          <p:cNvPr id="29" name="Picture 28" descr="Picture 30">
            <a:extLst>
              <a:ext uri="{FF2B5EF4-FFF2-40B4-BE49-F238E27FC236}">
                <a16:creationId xmlns:a16="http://schemas.microsoft.com/office/drawing/2014/main" id="{DD8B6EFB-30EF-380B-0396-17F00C7C1B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386" y="5423766"/>
            <a:ext cx="1277202" cy="267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Picture 8" descr="Picture 8">
            <a:extLst>
              <a:ext uri="{FF2B5EF4-FFF2-40B4-BE49-F238E27FC236}">
                <a16:creationId xmlns:a16="http://schemas.microsoft.com/office/drawing/2014/main" id="{B56FE1F9-4EF2-2EA3-2447-E8ACB34029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6386" y="5293065"/>
            <a:ext cx="1174984" cy="503448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Picture 30" descr="Picture 32">
            <a:extLst>
              <a:ext uri="{FF2B5EF4-FFF2-40B4-BE49-F238E27FC236}">
                <a16:creationId xmlns:a16="http://schemas.microsoft.com/office/drawing/2014/main" id="{579F0DF1-FFC0-E31C-74A4-810DAF563F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7862" y="5381808"/>
            <a:ext cx="733668" cy="309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" name="Rectangle 34">
            <a:extLst>
              <a:ext uri="{FF2B5EF4-FFF2-40B4-BE49-F238E27FC236}">
                <a16:creationId xmlns:a16="http://schemas.microsoft.com/office/drawing/2014/main" id="{F75DFCC9-060E-B45E-A3C1-B005B9D72E90}"/>
              </a:ext>
            </a:extLst>
          </p:cNvPr>
          <p:cNvGrpSpPr/>
          <p:nvPr/>
        </p:nvGrpSpPr>
        <p:grpSpPr>
          <a:xfrm>
            <a:off x="9683153" y="2436686"/>
            <a:ext cx="2138908" cy="822658"/>
            <a:chOff x="0" y="0"/>
            <a:chExt cx="2138907" cy="822656"/>
          </a:xfrm>
        </p:grpSpPr>
        <p:sp>
          <p:nvSpPr>
            <p:cNvPr id="33" name="Rectangle">
              <a:extLst>
                <a:ext uri="{FF2B5EF4-FFF2-40B4-BE49-F238E27FC236}">
                  <a16:creationId xmlns:a16="http://schemas.microsoft.com/office/drawing/2014/main" id="{83FDCEA6-6AA8-4AA2-702B-853862CD3797}"/>
                </a:ext>
              </a:extLst>
            </p:cNvPr>
            <p:cNvSpPr/>
            <p:nvPr/>
          </p:nvSpPr>
          <p:spPr>
            <a:xfrm>
              <a:off x="0" y="-1"/>
              <a:ext cx="2138908" cy="822658"/>
            </a:xfrm>
            <a:prstGeom prst="rect">
              <a:avLst/>
            </a:prstGeom>
            <a:solidFill>
              <a:srgbClr val="C5E0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 lang="en-GB" noProof="0" dirty="0"/>
            </a:p>
          </p:txBody>
        </p:sp>
        <p:sp>
          <p:nvSpPr>
            <p:cNvPr id="34" name="Xdeps…">
              <a:extLst>
                <a:ext uri="{FF2B5EF4-FFF2-40B4-BE49-F238E27FC236}">
                  <a16:creationId xmlns:a16="http://schemas.microsoft.com/office/drawing/2014/main" id="{FB52DBC4-3BDC-4C88-0EB9-A21DBD0410FB}"/>
                </a:ext>
              </a:extLst>
            </p:cNvPr>
            <p:cNvSpPr txBox="1"/>
            <p:nvPr/>
          </p:nvSpPr>
          <p:spPr>
            <a:xfrm>
              <a:off x="41790" y="24362"/>
              <a:ext cx="2055327" cy="773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400" b="1">
                  <a:solidFill>
                    <a:srgbClr val="385724"/>
                  </a:solidFill>
                </a:defRPr>
              </a:pPr>
              <a:r>
                <a:rPr lang="en-GB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Xdeps</a:t>
              </a:r>
              <a:endParaRPr lang="en-GB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457200">
                <a:defRPr sz="1400">
                  <a:solidFill>
                    <a:srgbClr val="385724"/>
                  </a:solidFill>
                </a:defRPr>
              </a:pPr>
              <a:r>
                <a:rPr lang="en-GB" noProof="0" dirty="0">
                  <a:latin typeface="Arial" panose="020B0604020202020204" pitchFamily="34" charset="0"/>
                  <a:cs typeface="Arial" panose="020B0604020202020204" pitchFamily="34" charset="0"/>
                </a:rPr>
                <a:t>Data flow manager, </a:t>
              </a:r>
              <a:endParaRPr lang="en-GB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457200">
                <a:defRPr sz="1400">
                  <a:solidFill>
                    <a:srgbClr val="385724"/>
                  </a:solidFill>
                </a:defRPr>
              </a:pPr>
              <a:r>
                <a:rPr lang="en-GB" noProof="0" dirty="0">
                  <a:latin typeface="Arial" panose="020B0604020202020204" pitchFamily="34" charset="0"/>
                  <a:cs typeface="Arial" panose="020B0604020202020204" pitchFamily="34" charset="0"/>
                </a:rPr>
                <a:t>deferred expressions</a:t>
              </a:r>
            </a:p>
          </p:txBody>
        </p:sp>
      </p:grpSp>
      <p:grpSp>
        <p:nvGrpSpPr>
          <p:cNvPr id="35" name="Rectangle 17">
            <a:extLst>
              <a:ext uri="{FF2B5EF4-FFF2-40B4-BE49-F238E27FC236}">
                <a16:creationId xmlns:a16="http://schemas.microsoft.com/office/drawing/2014/main" id="{8A391A64-883A-31AE-EC35-A1E2F5272E3E}"/>
              </a:ext>
            </a:extLst>
          </p:cNvPr>
          <p:cNvGrpSpPr/>
          <p:nvPr/>
        </p:nvGrpSpPr>
        <p:grpSpPr>
          <a:xfrm>
            <a:off x="7390553" y="3340508"/>
            <a:ext cx="2138908" cy="822657"/>
            <a:chOff x="0" y="0"/>
            <a:chExt cx="2138907" cy="822656"/>
          </a:xfrm>
        </p:grpSpPr>
        <p:sp>
          <p:nvSpPr>
            <p:cNvPr id="36" name="Rectangle">
              <a:extLst>
                <a:ext uri="{FF2B5EF4-FFF2-40B4-BE49-F238E27FC236}">
                  <a16:creationId xmlns:a16="http://schemas.microsoft.com/office/drawing/2014/main" id="{E6BCBAF9-A7C9-59FF-FA8F-4633C009B922}"/>
                </a:ext>
              </a:extLst>
            </p:cNvPr>
            <p:cNvSpPr/>
            <p:nvPr/>
          </p:nvSpPr>
          <p:spPr>
            <a:xfrm>
              <a:off x="0" y="-1"/>
              <a:ext cx="2138908" cy="822658"/>
            </a:xfrm>
            <a:prstGeom prst="rect">
              <a:avLst/>
            </a:prstGeom>
            <a:solidFill>
              <a:srgbClr val="C5E0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 lang="en-GB" noProof="0" dirty="0"/>
            </a:p>
          </p:txBody>
        </p:sp>
        <p:sp>
          <p:nvSpPr>
            <p:cNvPr id="37" name="Xcoll…">
              <a:extLst>
                <a:ext uri="{FF2B5EF4-FFF2-40B4-BE49-F238E27FC236}">
                  <a16:creationId xmlns:a16="http://schemas.microsoft.com/office/drawing/2014/main" id="{46209199-AEFD-0AF2-55FC-83AC0271F5EA}"/>
                </a:ext>
              </a:extLst>
            </p:cNvPr>
            <p:cNvSpPr txBox="1"/>
            <p:nvPr/>
          </p:nvSpPr>
          <p:spPr>
            <a:xfrm>
              <a:off x="3274" y="24362"/>
              <a:ext cx="2132359" cy="773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400" b="1">
                  <a:solidFill>
                    <a:srgbClr val="385724"/>
                  </a:solidFill>
                </a:defRPr>
              </a:pPr>
              <a:r>
                <a:rPr lang="en-GB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Xcoll</a:t>
              </a:r>
              <a:endParaRPr lang="en-GB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457200">
                <a:defRPr sz="1400">
                  <a:solidFill>
                    <a:srgbClr val="385724"/>
                  </a:solidFill>
                </a:defRPr>
              </a:pPr>
              <a:r>
                <a:rPr lang="en-GB" noProof="0" dirty="0">
                  <a:latin typeface="Arial" panose="020B0604020202020204" pitchFamily="34" charset="0"/>
                  <a:cs typeface="Arial" panose="020B0604020202020204" pitchFamily="34" charset="0"/>
                </a:rPr>
                <a:t>Particle-matter interaction and collimation</a:t>
              </a:r>
            </a:p>
          </p:txBody>
        </p:sp>
      </p:grpSp>
      <p:grpSp>
        <p:nvGrpSpPr>
          <p:cNvPr id="38" name="Rectangle 34">
            <a:extLst>
              <a:ext uri="{FF2B5EF4-FFF2-40B4-BE49-F238E27FC236}">
                <a16:creationId xmlns:a16="http://schemas.microsoft.com/office/drawing/2014/main" id="{E1F8F3EE-739D-8886-2C45-7DA8BF8DDDDE}"/>
              </a:ext>
            </a:extLst>
          </p:cNvPr>
          <p:cNvGrpSpPr/>
          <p:nvPr/>
        </p:nvGrpSpPr>
        <p:grpSpPr>
          <a:xfrm>
            <a:off x="9683153" y="3340508"/>
            <a:ext cx="2138908" cy="822657"/>
            <a:chOff x="0" y="0"/>
            <a:chExt cx="2138907" cy="822656"/>
          </a:xfrm>
        </p:grpSpPr>
        <p:sp>
          <p:nvSpPr>
            <p:cNvPr id="39" name="Rectangle">
              <a:extLst>
                <a:ext uri="{FF2B5EF4-FFF2-40B4-BE49-F238E27FC236}">
                  <a16:creationId xmlns:a16="http://schemas.microsoft.com/office/drawing/2014/main" id="{6551A469-ADEF-6FB7-0771-49B8EC3DA6C4}"/>
                </a:ext>
              </a:extLst>
            </p:cNvPr>
            <p:cNvSpPr/>
            <p:nvPr/>
          </p:nvSpPr>
          <p:spPr>
            <a:xfrm>
              <a:off x="0" y="-1"/>
              <a:ext cx="2138908" cy="822658"/>
            </a:xfrm>
            <a:prstGeom prst="rect">
              <a:avLst/>
            </a:prstGeom>
            <a:solidFill>
              <a:srgbClr val="C5E0B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 lang="en-GB" noProof="0" dirty="0"/>
            </a:p>
          </p:txBody>
        </p:sp>
        <p:sp>
          <p:nvSpPr>
            <p:cNvPr id="40" name="Xwakes…">
              <a:extLst>
                <a:ext uri="{FF2B5EF4-FFF2-40B4-BE49-F238E27FC236}">
                  <a16:creationId xmlns:a16="http://schemas.microsoft.com/office/drawing/2014/main" id="{DD4CE744-DA35-6428-8CFE-D906C52B232E}"/>
                </a:ext>
              </a:extLst>
            </p:cNvPr>
            <p:cNvSpPr txBox="1"/>
            <p:nvPr/>
          </p:nvSpPr>
          <p:spPr>
            <a:xfrm>
              <a:off x="41790" y="24362"/>
              <a:ext cx="2055327" cy="7739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 sz="1400" b="1">
                  <a:solidFill>
                    <a:srgbClr val="385724"/>
                  </a:solidFill>
                </a:defRPr>
              </a:pPr>
              <a:r>
                <a:rPr lang="en-GB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Xwakes</a:t>
              </a:r>
              <a:endParaRPr lang="en-GB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457200">
                <a:defRPr sz="1400">
                  <a:solidFill>
                    <a:srgbClr val="385724"/>
                  </a:solidFill>
                </a:defRPr>
              </a:pPr>
              <a:r>
                <a:rPr lang="en-GB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Wakefields</a:t>
              </a:r>
              <a:r>
                <a:rPr lang="en-GB" noProof="0" dirty="0">
                  <a:latin typeface="Arial" panose="020B0604020202020204" pitchFamily="34" charset="0"/>
                  <a:cs typeface="Arial" panose="020B0604020202020204" pitchFamily="34" charset="0"/>
                </a:rPr>
                <a:t> and impedances</a:t>
              </a:r>
            </a:p>
          </p:txBody>
        </p:sp>
      </p:grpSp>
      <p:pic>
        <p:nvPicPr>
          <p:cNvPr id="41" name="vidéo-collée.png" descr="vidéo-collée.png">
            <a:extLst>
              <a:ext uri="{FF2B5EF4-FFF2-40B4-BE49-F238E27FC236}">
                <a16:creationId xmlns:a16="http://schemas.microsoft.com/office/drawing/2014/main" id="{7EE424DC-71E9-B514-F1BC-DB8CAC00CA7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690226" y="5373760"/>
            <a:ext cx="1133662" cy="367842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Xobjects…">
            <a:extLst>
              <a:ext uri="{FF2B5EF4-FFF2-40B4-BE49-F238E27FC236}">
                <a16:creationId xmlns:a16="http://schemas.microsoft.com/office/drawing/2014/main" id="{F7EB5C81-79E0-CF88-08C1-681783BCC485}"/>
              </a:ext>
            </a:extLst>
          </p:cNvPr>
          <p:cNvSpPr txBox="1"/>
          <p:nvPr/>
        </p:nvSpPr>
        <p:spPr>
          <a:xfrm>
            <a:off x="6841067" y="5993777"/>
            <a:ext cx="699911" cy="5927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noAutofit/>
          </a:bodyPr>
          <a:lstStyle/>
          <a:p>
            <a:pPr algn="ctr" defTabSz="457200">
              <a:defRPr sz="1400" b="1">
                <a:solidFill>
                  <a:srgbClr val="843C0B"/>
                </a:solidFill>
              </a:defRPr>
            </a:pPr>
            <a:r>
              <a:rPr lang="en-GB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 GPU</a:t>
            </a:r>
          </a:p>
        </p:txBody>
      </p:sp>
      <p:pic>
        <p:nvPicPr>
          <p:cNvPr id="43" name="Picture 6" descr="Apple Logo">
            <a:extLst>
              <a:ext uri="{FF2B5EF4-FFF2-40B4-BE49-F238E27FC236}">
                <a16:creationId xmlns:a16="http://schemas.microsoft.com/office/drawing/2014/main" id="{4F498E4F-14C8-C104-AC82-A26F31F62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474" y="5944871"/>
            <a:ext cx="1258706" cy="62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Resources for Xsuite users</a:t>
            </a:r>
          </a:p>
        </p:txBody>
      </p:sp>
      <p:pic>
        <p:nvPicPr>
          <p:cNvPr id="4" name="Picture 3" descr="xsui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109728"/>
            <a:ext cx="1171533" cy="777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325880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02020"/>
                </a:solidFill>
              </a:rPr>
              <a:t>Entry point with links to everything below</a:t>
            </a:r>
          </a:p>
          <a:p>
            <a:r>
              <a:rPr sz="1400">
                <a:solidFill>
                  <a:srgbClr val="2A7DE1"/>
                </a:solidFill>
                <a:hlinkClick r:id="rId3"/>
              </a:rPr>
              <a:t>xsuite.web.cern.ch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User's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3321"/>
            <a:ext cx="82296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dirty="0">
                <a:solidFill>
                  <a:srgbClr val="202020"/>
                </a:solidFill>
              </a:rPr>
              <a:t>Installation, tutorials and examples for the main functionalities (start here)</a:t>
            </a:r>
          </a:p>
          <a:p>
            <a:r>
              <a:rPr lang="en-GB" sz="1400" dirty="0">
                <a:solidFill>
                  <a:srgbClr val="2A7DE1"/>
                </a:solidFill>
                <a:hlinkClick r:id="rId4"/>
              </a:rPr>
              <a:t>https://xsuite.readthedocs.io/en/latest/usersguide.html</a:t>
            </a:r>
            <a:endParaRPr sz="1400" dirty="0">
              <a:solidFill>
                <a:srgbClr val="2A7DE1"/>
              </a:solidFill>
              <a:hlinkClick r:id="rId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11247120" cy="8229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Reference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71800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02020"/>
                </a:solidFill>
              </a:rPr>
              <a:t>API documentation of all modules and classes</a:t>
            </a:r>
          </a:p>
          <a:p>
            <a:r>
              <a:rPr sz="1400">
                <a:solidFill>
                  <a:srgbClr val="2A7DE1"/>
                </a:solidFill>
                <a:hlinkClick r:id="rId5"/>
              </a:rPr>
              <a:t>xsuite.readthedocs.io/en/latest/apireference.html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Physics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94760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202020"/>
                </a:solidFill>
              </a:rPr>
              <a:t>Physics models implemented in the code (PDF)</a:t>
            </a:r>
          </a:p>
          <a:p>
            <a:r>
              <a:rPr sz="1400">
                <a:solidFill>
                  <a:srgbClr val="2A7DE1"/>
                </a:solidFill>
                <a:hlinkClick r:id="rId6"/>
              </a:rPr>
              <a:t>xsuite.github.io/xsuite/docs/physics_manual/physics_man.pdf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11247120" cy="8229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Mattermost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752201"/>
            <a:ext cx="82296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dirty="0">
                <a:solidFill>
                  <a:srgbClr val="202020"/>
                </a:solidFill>
              </a:rPr>
              <a:t>Questions, discussions. CERN </a:t>
            </a:r>
            <a:r>
              <a:rPr sz="1600" dirty="0" err="1">
                <a:solidFill>
                  <a:srgbClr val="202020"/>
                </a:solidFill>
              </a:rPr>
              <a:t>Mattermost</a:t>
            </a:r>
            <a:r>
              <a:rPr sz="1600" dirty="0">
                <a:solidFill>
                  <a:srgbClr val="202020"/>
                </a:solidFill>
              </a:rPr>
              <a:t> team "</a:t>
            </a:r>
            <a:r>
              <a:rPr sz="1600" dirty="0" err="1">
                <a:solidFill>
                  <a:srgbClr val="202020"/>
                </a:solidFill>
              </a:rPr>
              <a:t>xsuite</a:t>
            </a:r>
            <a:r>
              <a:rPr sz="1600" dirty="0">
                <a:solidFill>
                  <a:srgbClr val="202020"/>
                </a:solidFill>
              </a:rPr>
              <a:t>"</a:t>
            </a:r>
          </a:p>
          <a:p>
            <a:r>
              <a:rPr sz="1400" dirty="0">
                <a:solidFill>
                  <a:srgbClr val="2A7DE1"/>
                </a:solidFill>
                <a:hlinkClick r:id="rId7"/>
              </a:rPr>
              <a:t>mattermost.web.cern.ch/xsuite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52105"/>
            <a:ext cx="93647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 dirty="0">
                <a:solidFill>
                  <a:srgbClr val="1F3A5F"/>
                </a:solidFill>
              </a:rP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575161"/>
            <a:ext cx="82296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dirty="0">
                <a:solidFill>
                  <a:srgbClr val="202020"/>
                </a:solidFill>
              </a:rPr>
              <a:t>Source code of all packages. </a:t>
            </a:r>
            <a:r>
              <a:rPr sz="1600" dirty="0">
                <a:solidFill>
                  <a:srgbClr val="202020"/>
                </a:solidFill>
              </a:rPr>
              <a:t>Bug reports</a:t>
            </a:r>
            <a:r>
              <a:rPr lang="en-US" sz="1600" dirty="0">
                <a:solidFill>
                  <a:srgbClr val="202020"/>
                </a:solidFill>
              </a:rPr>
              <a:t>, questions, </a:t>
            </a:r>
            <a:r>
              <a:rPr sz="1600" dirty="0">
                <a:solidFill>
                  <a:srgbClr val="202020"/>
                </a:solidFill>
              </a:rPr>
              <a:t>and feature requests. </a:t>
            </a:r>
          </a:p>
          <a:p>
            <a:r>
              <a:rPr sz="1400" dirty="0">
                <a:solidFill>
                  <a:srgbClr val="2A7DE1"/>
                </a:solidFill>
                <a:hlinkClick r:id="rId8"/>
              </a:rPr>
              <a:t>github.com/xsuite/xsuite/issues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Xsuite tutorial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Content of the tutorial</a:t>
            </a:r>
          </a:p>
        </p:txBody>
      </p:sp>
      <p:pic>
        <p:nvPicPr>
          <p:cNvPr id="4" name="Picture 3" descr="xsui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109728"/>
            <a:ext cx="1171533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02020"/>
                </a:solidFill>
              </a:rPr>
              <a:t>Hands-on with Jupyter notebooks, using as example the </a:t>
            </a:r>
            <a:r>
              <a:rPr sz="1800" b="1">
                <a:solidFill>
                  <a:srgbClr val="202020"/>
                </a:solidFill>
              </a:rPr>
              <a:t>PIMM lattice</a:t>
            </a:r>
            <a:r>
              <a:rPr sz="1800">
                <a:solidFill>
                  <a:srgbClr val="202020"/>
                </a:solidFill>
              </a:rPr>
              <a:t> (proton and ion therapy synchrotron, CERN/PS 99-010, basis of the CNAO and MedAustron machines)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044068"/>
            <a:ext cx="475488" cy="475488"/>
          </a:xfrm>
          <a:prstGeom prst="ellipse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70916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The Xtrack environment   </a:t>
            </a:r>
            <a:r>
              <a:rPr sz="1600">
                <a:solidFill>
                  <a:srgbClr val="202020"/>
                </a:solidFill>
              </a:rPr>
              <a:t>variables, deferred expressions (knobs), elements, lines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65860"/>
            <a:ext cx="475488" cy="475488"/>
          </a:xfrm>
          <a:prstGeom prst="ellipse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92708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Lattice design   </a:t>
            </a:r>
            <a:r>
              <a:rPr sz="1600">
                <a:solidFill>
                  <a:srgbClr val="202020"/>
                </a:solidFill>
              </a:rPr>
              <a:t>build the PIMM ring from cells and straight sections, insert sextupoles and RF, save to JSON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87652"/>
            <a:ext cx="475488" cy="475488"/>
          </a:xfrm>
          <a:prstGeom prst="ellipse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14500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Loading lattices   </a:t>
            </a:r>
            <a:r>
              <a:rPr sz="1600">
                <a:solidFill>
                  <a:srgbClr val="202020"/>
                </a:solidFill>
              </a:rPr>
              <a:t>from Python scripts, JSON and MAD-X files; optics/strength files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09444"/>
            <a:ext cx="475488" cy="475488"/>
          </a:xfrm>
          <a:prstGeom prst="ellipse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36292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Optics and matching   </a:t>
            </a:r>
            <a:r>
              <a:rPr sz="1600">
                <a:solidFill>
                  <a:srgbClr val="202020"/>
                </a:solidFill>
              </a:rPr>
              <a:t>twiss, tune and dispersion matching, chromaticity correction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1236"/>
            <a:ext cx="475488" cy="475488"/>
          </a:xfrm>
          <a:prstGeom prst="ellipse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58084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Tracking   </a:t>
            </a:r>
            <a:r>
              <a:rPr sz="1600">
                <a:solidFill>
                  <a:srgbClr val="202020"/>
                </a:solidFill>
              </a:rPr>
              <a:t>turn-by-turn monitor, phase space close to the 3rd order resonance (slow extraction)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153028"/>
            <a:ext cx="475488" cy="475488"/>
          </a:xfrm>
          <a:prstGeom prst="ellipse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79876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RF, wakefields, beam statistics   </a:t>
            </a:r>
            <a:r>
              <a:rPr sz="1600">
                <a:solidFill>
                  <a:srgbClr val="202020"/>
                </a:solidFill>
              </a:rPr>
              <a:t>longitudinal phase space, transverse impedance, instability and losses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6072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F2F5F9"/>
          </a:solidFill>
          <a:ln>
            <a:solidFill>
              <a:srgbClr val="2A7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865763"/>
            <a:ext cx="1037604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600" b="1" dirty="0">
                <a:solidFill>
                  <a:srgbClr val="1F3A5F"/>
                </a:solidFill>
              </a:rPr>
              <a:t>Notebooks and data files:  </a:t>
            </a:r>
            <a:r>
              <a:rPr sz="1600" dirty="0">
                <a:solidFill>
                  <a:srgbClr val="2A7DE1"/>
                </a:solidFill>
                <a:hlinkClick r:id="rId3"/>
              </a:rPr>
              <a:t>github.com/xsuite/tutorial_cern_seminar</a:t>
            </a:r>
            <a:r>
              <a:rPr sz="1600" dirty="0">
                <a:solidFill>
                  <a:srgbClr val="202020"/>
                </a:solidFill>
              </a:rPr>
              <a:t>      Requirements:  pip install </a:t>
            </a:r>
            <a:r>
              <a:rPr sz="1600" dirty="0" err="1">
                <a:solidFill>
                  <a:srgbClr val="202020"/>
                </a:solidFill>
              </a:rPr>
              <a:t>xsuite</a:t>
            </a:r>
            <a:r>
              <a:rPr sz="1600" dirty="0">
                <a:solidFill>
                  <a:srgbClr val="202020"/>
                </a:solidFill>
              </a:rPr>
              <a:t> matplotlib </a:t>
            </a:r>
            <a:r>
              <a:rPr sz="1600" dirty="0" err="1">
                <a:solidFill>
                  <a:srgbClr val="202020"/>
                </a:solidFill>
              </a:rPr>
              <a:t>jupyter</a:t>
            </a:r>
            <a:endParaRPr sz="1600" dirty="0">
              <a:solidFill>
                <a:srgbClr val="20202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Xsuite tutorial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477</Words>
  <Application>Microsoft Macintosh PowerPoint</Application>
  <PresentationFormat>Widescreen</PresentationFormat>
  <Paragraphs>64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Giovanni Iadarola</cp:lastModifiedBy>
  <cp:revision>3</cp:revision>
  <dcterms:created xsi:type="dcterms:W3CDTF">2013-01-27T09:14:16Z</dcterms:created>
  <dcterms:modified xsi:type="dcterms:W3CDTF">2026-09-21T19:43:11Z</dcterms:modified>
  <cp:category/>
</cp:coreProperties>
</file>